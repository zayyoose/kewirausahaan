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59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734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1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1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05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745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803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87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1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6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191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59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0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C4EF9-5581-41DD-B5E9-E8D847F1D48A}" type="datetimeFigureOut">
              <a:rPr lang="en-US" smtClean="0"/>
              <a:t>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7FF2E-AE3C-46A0-A071-05267F322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298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247650" y="365760"/>
            <a:ext cx="356616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2400" b="1">
                <a:ln w="3175"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Lean Canvas</a:t>
            </a:r>
          </a:p>
        </p:txBody>
      </p:sp>
      <p:sp>
        <p:nvSpPr>
          <p:cNvPr id="5" name="TextBox 7"/>
          <p:cNvSpPr txBox="1">
            <a:spLocks noChangeArrowheads="1"/>
          </p:cNvSpPr>
          <p:nvPr/>
        </p:nvSpPr>
        <p:spPr bwMode="auto">
          <a:xfrm>
            <a:off x="3840480" y="137160"/>
            <a:ext cx="1403350" cy="1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i="1">
                <a:latin typeface="Arial" charset="0"/>
                <a:cs typeface="Arial" charset="0"/>
              </a:rPr>
              <a:t>Name:</a:t>
            </a:r>
          </a:p>
        </p:txBody>
      </p:sp>
      <p:sp>
        <p:nvSpPr>
          <p:cNvPr id="6" name="TextBox 8"/>
          <p:cNvSpPr txBox="1">
            <a:spLocks noChangeArrowheads="1"/>
          </p:cNvSpPr>
          <p:nvPr/>
        </p:nvSpPr>
        <p:spPr bwMode="auto">
          <a:xfrm>
            <a:off x="6858000" y="137160"/>
            <a:ext cx="1403350" cy="182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sz="1000" i="1">
                <a:latin typeface="Arial" charset="0"/>
                <a:cs typeface="Arial" charset="0"/>
              </a:rPr>
              <a:t>Business :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244475" y="777237"/>
            <a:ext cx="11706733" cy="5852163"/>
            <a:chOff x="244475" y="777237"/>
            <a:chExt cx="11706733" cy="5852163"/>
          </a:xfrm>
        </p:grpSpPr>
        <p:cxnSp>
          <p:nvCxnSpPr>
            <p:cNvPr id="8" name="Straight Connector 7"/>
            <p:cNvCxnSpPr/>
            <p:nvPr userDrawn="1"/>
          </p:nvCxnSpPr>
          <p:spPr>
            <a:xfrm>
              <a:off x="6096000" y="4613749"/>
              <a:ext cx="3048" cy="201565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244475" y="777239"/>
              <a:ext cx="11706733" cy="5852160"/>
            </a:xfrm>
            <a:prstGeom prst="rect">
              <a:avLst/>
            </a:prstGeom>
            <a:solidFill>
              <a:schemeClr val="bg1">
                <a:alpha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2587752" y="777237"/>
              <a:ext cx="0" cy="402336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4919472" y="777237"/>
              <a:ext cx="9144" cy="402336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7269480" y="777237"/>
              <a:ext cx="0" cy="402336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H="1">
              <a:off x="9601200" y="777237"/>
              <a:ext cx="9144" cy="402336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244475" y="4800600"/>
              <a:ext cx="11706733" cy="1986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2587752" y="2788920"/>
              <a:ext cx="233172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269479" y="2788920"/>
              <a:ext cx="2331720" cy="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096000" y="4800600"/>
              <a:ext cx="3048" cy="1828800"/>
            </a:xfrm>
            <a:prstGeom prst="line">
              <a:avLst/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37" descr="channels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07512" y="2825496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38" descr="cost-structure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4219" y="4847336"/>
              <a:ext cx="275835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39" descr="customer-segments.pn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1688" y="802640"/>
              <a:ext cx="275835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40" descr="early-adopters.pn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2885" y="2825496"/>
              <a:ext cx="275835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41" descr="existing-alternatives.png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241" y="2825496"/>
              <a:ext cx="272813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42" descr="high-level-concept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75157" y="2825496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23" descr="key-metrics.png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8037" y="2828924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24" descr="problem.png"/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01240" y="802640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25" descr="revenue-streams.png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652885" y="4836160"/>
              <a:ext cx="275837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6" descr="solution.png"/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8198" y="804672"/>
              <a:ext cx="270622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7" descr="unfair-advantage.png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17674" y="804672"/>
              <a:ext cx="275835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28" descr="unique-value-proposition.png"/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85318" y="804672"/>
              <a:ext cx="270622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TextBox 11"/>
            <p:cNvSpPr txBox="1">
              <a:spLocks noChangeArrowheads="1"/>
            </p:cNvSpPr>
            <p:nvPr userDrawn="1"/>
          </p:nvSpPr>
          <p:spPr bwMode="auto">
            <a:xfrm>
              <a:off x="244475" y="777240"/>
              <a:ext cx="1749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Problem</a:t>
              </a:r>
            </a:p>
          </p:txBody>
        </p:sp>
        <p:sp>
          <p:nvSpPr>
            <p:cNvPr id="31" name="TextBox 14"/>
            <p:cNvSpPr txBox="1">
              <a:spLocks noChangeArrowheads="1"/>
            </p:cNvSpPr>
            <p:nvPr userDrawn="1"/>
          </p:nvSpPr>
          <p:spPr bwMode="auto">
            <a:xfrm>
              <a:off x="2587752" y="777240"/>
              <a:ext cx="17510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Solution</a:t>
              </a:r>
            </a:p>
          </p:txBody>
        </p:sp>
        <p:sp>
          <p:nvSpPr>
            <p:cNvPr id="32" name="TextBox 15"/>
            <p:cNvSpPr txBox="1">
              <a:spLocks noChangeArrowheads="1"/>
            </p:cNvSpPr>
            <p:nvPr userDrawn="1"/>
          </p:nvSpPr>
          <p:spPr bwMode="auto">
            <a:xfrm>
              <a:off x="2587752" y="2788920"/>
              <a:ext cx="17510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Key Metrics</a:t>
              </a:r>
            </a:p>
          </p:txBody>
        </p:sp>
        <p:sp>
          <p:nvSpPr>
            <p:cNvPr id="33" name="TextBox 16"/>
            <p:cNvSpPr txBox="1">
              <a:spLocks noChangeArrowheads="1"/>
            </p:cNvSpPr>
            <p:nvPr userDrawn="1"/>
          </p:nvSpPr>
          <p:spPr bwMode="auto">
            <a:xfrm>
              <a:off x="4928615" y="777240"/>
              <a:ext cx="2103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Unique Value Proposition</a:t>
              </a:r>
            </a:p>
          </p:txBody>
        </p:sp>
        <p:sp>
          <p:nvSpPr>
            <p:cNvPr id="34" name="TextBox 18"/>
            <p:cNvSpPr txBox="1">
              <a:spLocks noChangeArrowheads="1"/>
            </p:cNvSpPr>
            <p:nvPr userDrawn="1"/>
          </p:nvSpPr>
          <p:spPr bwMode="auto">
            <a:xfrm>
              <a:off x="7269480" y="777240"/>
              <a:ext cx="1749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Unfair Advantage</a:t>
              </a:r>
            </a:p>
          </p:txBody>
        </p:sp>
        <p:sp>
          <p:nvSpPr>
            <p:cNvPr id="35" name="TextBox 19"/>
            <p:cNvSpPr txBox="1">
              <a:spLocks noChangeArrowheads="1"/>
            </p:cNvSpPr>
            <p:nvPr userDrawn="1"/>
          </p:nvSpPr>
          <p:spPr bwMode="auto">
            <a:xfrm>
              <a:off x="7269480" y="2788920"/>
              <a:ext cx="1749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Channels</a:t>
              </a:r>
            </a:p>
          </p:txBody>
        </p:sp>
        <p:sp>
          <p:nvSpPr>
            <p:cNvPr id="36" name="TextBox 20"/>
            <p:cNvSpPr txBox="1">
              <a:spLocks noChangeArrowheads="1"/>
            </p:cNvSpPr>
            <p:nvPr userDrawn="1"/>
          </p:nvSpPr>
          <p:spPr bwMode="auto">
            <a:xfrm>
              <a:off x="9610344" y="777240"/>
              <a:ext cx="1749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Customer Segments</a:t>
              </a:r>
            </a:p>
          </p:txBody>
        </p:sp>
        <p:sp>
          <p:nvSpPr>
            <p:cNvPr id="37" name="TextBox 13"/>
            <p:cNvSpPr txBox="1">
              <a:spLocks noChangeArrowheads="1"/>
            </p:cNvSpPr>
            <p:nvPr userDrawn="1"/>
          </p:nvSpPr>
          <p:spPr bwMode="auto">
            <a:xfrm>
              <a:off x="244475" y="4800600"/>
              <a:ext cx="1749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Cost Structure</a:t>
              </a:r>
            </a:p>
          </p:txBody>
        </p:sp>
        <p:sp>
          <p:nvSpPr>
            <p:cNvPr id="38" name="TextBox 22"/>
            <p:cNvSpPr txBox="1">
              <a:spLocks noChangeArrowheads="1"/>
            </p:cNvSpPr>
            <p:nvPr userDrawn="1"/>
          </p:nvSpPr>
          <p:spPr bwMode="auto">
            <a:xfrm>
              <a:off x="6099048" y="4800600"/>
              <a:ext cx="1749425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Revenue Streams</a:t>
              </a:r>
            </a:p>
          </p:txBody>
        </p:sp>
        <p:sp>
          <p:nvSpPr>
            <p:cNvPr id="39" name="TextBox 15"/>
            <p:cNvSpPr txBox="1">
              <a:spLocks noChangeArrowheads="1"/>
            </p:cNvSpPr>
            <p:nvPr userDrawn="1"/>
          </p:nvSpPr>
          <p:spPr bwMode="auto">
            <a:xfrm>
              <a:off x="246888" y="2788920"/>
              <a:ext cx="17510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Existing Alternatives</a:t>
              </a:r>
            </a:p>
          </p:txBody>
        </p:sp>
        <p:sp>
          <p:nvSpPr>
            <p:cNvPr id="40" name="TextBox 15"/>
            <p:cNvSpPr txBox="1">
              <a:spLocks noChangeArrowheads="1"/>
            </p:cNvSpPr>
            <p:nvPr userDrawn="1"/>
          </p:nvSpPr>
          <p:spPr bwMode="auto">
            <a:xfrm>
              <a:off x="9610344" y="2788920"/>
              <a:ext cx="1751013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Early Adopters</a:t>
              </a:r>
            </a:p>
          </p:txBody>
        </p:sp>
        <p:sp>
          <p:nvSpPr>
            <p:cNvPr id="41" name="TextBox 15"/>
            <p:cNvSpPr txBox="1">
              <a:spLocks noChangeArrowheads="1"/>
            </p:cNvSpPr>
            <p:nvPr userDrawn="1"/>
          </p:nvSpPr>
          <p:spPr bwMode="auto">
            <a:xfrm>
              <a:off x="4935537" y="2786936"/>
              <a:ext cx="199936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charset="0"/>
                  <a:ea typeface="ＭＳ Ｐゴシック" charset="0"/>
                </a:defRPr>
              </a:lvl9pPr>
            </a:lstStyle>
            <a:p>
              <a:pPr>
                <a:defRPr/>
              </a:pP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High</a:t>
              </a:r>
              <a:r>
                <a:rPr lang="en-GB" sz="1200" b="1" baseline="0">
                  <a:solidFill>
                    <a:srgbClr val="C00000"/>
                  </a:solidFill>
                  <a:latin typeface="Arial" charset="0"/>
                  <a:cs typeface="Arial" charset="0"/>
                </a:rPr>
                <a:t> </a:t>
              </a:r>
              <a:r>
                <a:rPr lang="en-GB" sz="1200" b="1">
                  <a:solidFill>
                    <a:srgbClr val="C00000"/>
                  </a:solidFill>
                  <a:latin typeface="Arial" charset="0"/>
                  <a:cs typeface="Arial" charset="0"/>
                </a:rPr>
                <a:t>Level Concept</a:t>
              </a:r>
            </a:p>
          </p:txBody>
        </p:sp>
      </p:grpSp>
      <p:sp>
        <p:nvSpPr>
          <p:cNvPr id="42" name="Text Placeholder 8"/>
          <p:cNvSpPr txBox="1">
            <a:spLocks/>
          </p:cNvSpPr>
          <p:nvPr/>
        </p:nvSpPr>
        <p:spPr>
          <a:xfrm>
            <a:off x="338328" y="1097280"/>
            <a:ext cx="2167128" cy="1645920"/>
          </a:xfrm>
          <a:prstGeom prst="rect">
            <a:avLst/>
          </a:prstGeom>
          <a:noFill/>
        </p:spPr>
        <p:txBody>
          <a:bodyPr vert="horz" lIns="0" tIns="45720" rIns="91440" bIns="45720" rtlCol="0" anchor="t" anchorCtr="0"/>
          <a:lstStyle>
            <a:defPPr>
              <a:defRPr lang="en-US"/>
            </a:defPPr>
            <a:lvl1pPr marL="0" indent="0" algn="l" defTabSz="914400" rtl="0" eaLnBrk="1" latinLnBrk="0" hangingPunct="1">
              <a:spcBef>
                <a:spcPts val="600"/>
              </a:spcBef>
              <a:buNone/>
              <a:defRPr sz="1100" b="0" i="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rgbClr val="002060"/>
                </a:solidFill>
              </a:rPr>
              <a:t>Petani menghadapi ketidakstabilan harga hasil panen, rendahnya produktivitas akibat kurangnya penggunaan teknologi modern, dan kesulitan memenuhi standar industri pangan.</a:t>
            </a:r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43" name="Text Placeholder 8"/>
          <p:cNvSpPr txBox="1">
            <a:spLocks/>
          </p:cNvSpPr>
          <p:nvPr/>
        </p:nvSpPr>
        <p:spPr>
          <a:xfrm>
            <a:off x="5020056" y="1097280"/>
            <a:ext cx="2167128" cy="1645920"/>
          </a:xfrm>
          <a:prstGeom prst="rect">
            <a:avLst/>
          </a:prstGeom>
          <a:noFill/>
        </p:spPr>
        <p:txBody>
          <a:bodyPr vert="horz" lIns="0" tIns="45720" rIns="91440" bIns="45720" rtlCol="0" anchor="t" anchorCtr="0"/>
          <a:lstStyle>
            <a:defPPr>
              <a:defRPr lang="en-US"/>
            </a:defPPr>
            <a:lvl1pPr marL="0" indent="0" algn="r" defTabSz="914400" rtl="0" eaLnBrk="1" latinLnBrk="0" hangingPunct="1">
              <a:spcBef>
                <a:spcPts val="600"/>
              </a:spcBef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200" dirty="0">
                <a:solidFill>
                  <a:srgbClr val="002060"/>
                </a:solidFill>
              </a:rPr>
              <a:t>Smart Farming </a:t>
            </a:r>
            <a:r>
              <a:rPr lang="en-GB" sz="1200" dirty="0" err="1">
                <a:solidFill>
                  <a:srgbClr val="002060"/>
                </a:solidFill>
              </a:rPr>
              <a:t>berbasis</a:t>
            </a:r>
            <a:r>
              <a:rPr lang="en-GB" sz="1200" dirty="0">
                <a:solidFill>
                  <a:srgbClr val="002060"/>
                </a:solidFill>
              </a:rPr>
              <a:t> IoT yang </a:t>
            </a:r>
            <a:r>
              <a:rPr lang="en-GB" sz="1200" dirty="0" err="1">
                <a:solidFill>
                  <a:srgbClr val="002060"/>
                </a:solidFill>
              </a:rPr>
              <a:t>mudah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digunakan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terjangkau</a:t>
            </a:r>
            <a:r>
              <a:rPr lang="en-GB" sz="1200" dirty="0">
                <a:solidFill>
                  <a:srgbClr val="002060"/>
                </a:solidFill>
              </a:rPr>
              <a:t>, dan </a:t>
            </a:r>
            <a:r>
              <a:rPr lang="en-GB" sz="1200" dirty="0" err="1">
                <a:solidFill>
                  <a:srgbClr val="002060"/>
                </a:solidFill>
              </a:rPr>
              <a:t>efektif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membantu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petani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meningkatkan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produktivitas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sekaligus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memenuhi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standar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kualitas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industri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pangan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44" name="Text Placeholder 8"/>
          <p:cNvSpPr txBox="1">
            <a:spLocks/>
          </p:cNvSpPr>
          <p:nvPr/>
        </p:nvSpPr>
        <p:spPr>
          <a:xfrm>
            <a:off x="7360920" y="109728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 err="1">
                <a:solidFill>
                  <a:srgbClr val="002060"/>
                </a:solidFill>
              </a:rPr>
              <a:t>Dukungan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teknisi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lokal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instalasi</a:t>
            </a:r>
            <a:r>
              <a:rPr lang="en-GB" sz="1200" dirty="0">
                <a:solidFill>
                  <a:srgbClr val="002060"/>
                </a:solidFill>
              </a:rPr>
              <a:t> dan </a:t>
            </a:r>
            <a:r>
              <a:rPr lang="en-GB" sz="1200" dirty="0" err="1">
                <a:solidFill>
                  <a:srgbClr val="002060"/>
                </a:solidFill>
              </a:rPr>
              <a:t>perawatan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perangkat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sistem</a:t>
            </a:r>
            <a:r>
              <a:rPr lang="en-GB" sz="1200" dirty="0">
                <a:solidFill>
                  <a:srgbClr val="002060"/>
                </a:solidFill>
              </a:rPr>
              <a:t> IoT yang user-friendly, </a:t>
            </a:r>
            <a:r>
              <a:rPr lang="en-GB" sz="1200" dirty="0" err="1">
                <a:solidFill>
                  <a:srgbClr val="002060"/>
                </a:solidFill>
              </a:rPr>
              <a:t>serta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kemampuan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memberikan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pelatihan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langsung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kepada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petani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dengan</a:t>
            </a:r>
            <a:r>
              <a:rPr lang="en-GB" sz="1200" dirty="0">
                <a:solidFill>
                  <a:srgbClr val="002060"/>
                </a:solidFill>
              </a:rPr>
              <a:t> uji </a:t>
            </a:r>
            <a:r>
              <a:rPr lang="en-GB" sz="1200" dirty="0" err="1">
                <a:solidFill>
                  <a:srgbClr val="002060"/>
                </a:solidFill>
              </a:rPr>
              <a:t>coba</a:t>
            </a:r>
            <a:r>
              <a:rPr lang="en-GB" sz="1200" dirty="0">
                <a:solidFill>
                  <a:srgbClr val="002060"/>
                </a:solidFill>
              </a:rPr>
              <a:t> gratis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membangun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kepercayaan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45" name="Text Placeholder 8"/>
          <p:cNvSpPr txBox="1">
            <a:spLocks/>
          </p:cNvSpPr>
          <p:nvPr/>
        </p:nvSpPr>
        <p:spPr>
          <a:xfrm>
            <a:off x="9701784" y="109728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id-ID" sz="1200" dirty="0">
                <a:solidFill>
                  <a:srgbClr val="002060"/>
                </a:solidFill>
              </a:rPr>
              <a:t>Petani kecil-menengah</a:t>
            </a:r>
          </a:p>
          <a:p>
            <a:pPr marL="228600" indent="-228600">
              <a:buAutoNum type="arabicPeriod"/>
            </a:pPr>
            <a:r>
              <a:rPr lang="id-ID" sz="1200" dirty="0">
                <a:solidFill>
                  <a:srgbClr val="002060"/>
                </a:solidFill>
              </a:rPr>
              <a:t>Perusahaan agribisnis Besar</a:t>
            </a:r>
          </a:p>
          <a:p>
            <a:pPr marL="228600" indent="-228600">
              <a:buAutoNum type="arabicPeriod"/>
            </a:pPr>
            <a:r>
              <a:rPr lang="id-ID" sz="1200" dirty="0">
                <a:solidFill>
                  <a:srgbClr val="002060"/>
                </a:solidFill>
              </a:rPr>
              <a:t>Pemerintah</a:t>
            </a:r>
          </a:p>
          <a:p>
            <a:pPr marL="228600" indent="-228600">
              <a:buAutoNum type="arabicPeriod"/>
            </a:pPr>
            <a:r>
              <a:rPr lang="id-ID" sz="1200" dirty="0">
                <a:solidFill>
                  <a:srgbClr val="002060"/>
                </a:solidFill>
              </a:rPr>
              <a:t>Anak Muda yang tertarik Teknologi</a:t>
            </a:r>
          </a:p>
          <a:p>
            <a:pPr marL="228600" indent="-228600">
              <a:buAutoNum type="arabicPeriod"/>
            </a:pPr>
            <a:r>
              <a:rPr lang="id-ID" sz="1200" dirty="0">
                <a:solidFill>
                  <a:srgbClr val="002060"/>
                </a:solidFill>
              </a:rPr>
              <a:t>Universitas atau sekolah pertanian</a:t>
            </a:r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46" name="Text Placeholder 8"/>
          <p:cNvSpPr txBox="1">
            <a:spLocks/>
          </p:cNvSpPr>
          <p:nvPr/>
        </p:nvSpPr>
        <p:spPr>
          <a:xfrm>
            <a:off x="2679192" y="310896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 err="1">
                <a:solidFill>
                  <a:srgbClr val="002060"/>
                </a:solidFill>
              </a:rPr>
              <a:t>Jumlah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petani</a:t>
            </a:r>
            <a:r>
              <a:rPr lang="en-GB" sz="1200" dirty="0">
                <a:solidFill>
                  <a:srgbClr val="002060"/>
                </a:solidFill>
              </a:rPr>
              <a:t> yang </a:t>
            </a:r>
            <a:r>
              <a:rPr lang="en-GB" sz="1200" dirty="0" err="1">
                <a:solidFill>
                  <a:srgbClr val="002060"/>
                </a:solidFill>
              </a:rPr>
              <a:t>berlangganan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tingkat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adopsi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teknologi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peningkatan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produktivitas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panen</a:t>
            </a:r>
            <a:r>
              <a:rPr lang="en-GB" sz="1200" dirty="0">
                <a:solidFill>
                  <a:srgbClr val="002060"/>
                </a:solidFill>
              </a:rPr>
              <a:t>, dan </a:t>
            </a:r>
            <a:r>
              <a:rPr lang="en-GB" sz="1200" dirty="0" err="1">
                <a:solidFill>
                  <a:srgbClr val="002060"/>
                </a:solidFill>
              </a:rPr>
              <a:t>efisiensi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sumber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daya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seperti</a:t>
            </a:r>
            <a:r>
              <a:rPr lang="en-GB" sz="1200" dirty="0">
                <a:solidFill>
                  <a:srgbClr val="002060"/>
                </a:solidFill>
              </a:rPr>
              <a:t> air dan </a:t>
            </a:r>
            <a:r>
              <a:rPr lang="en-GB" sz="1200" dirty="0" err="1">
                <a:solidFill>
                  <a:srgbClr val="002060"/>
                </a:solidFill>
              </a:rPr>
              <a:t>pupuk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47" name="Text Placeholder 8"/>
          <p:cNvSpPr txBox="1">
            <a:spLocks/>
          </p:cNvSpPr>
          <p:nvPr/>
        </p:nvSpPr>
        <p:spPr>
          <a:xfrm>
            <a:off x="7360920" y="310896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 err="1">
                <a:solidFill>
                  <a:srgbClr val="002060"/>
                </a:solidFill>
              </a:rPr>
              <a:t>Produk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akan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dijual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melalui</a:t>
            </a:r>
            <a:r>
              <a:rPr lang="en-GB" sz="1200" dirty="0">
                <a:solidFill>
                  <a:srgbClr val="002060"/>
                </a:solidFill>
              </a:rPr>
              <a:t> marketplace (Tokopedia, Shopee), media </a:t>
            </a:r>
            <a:r>
              <a:rPr lang="en-GB" sz="1200" dirty="0" err="1">
                <a:solidFill>
                  <a:srgbClr val="002060"/>
                </a:solidFill>
              </a:rPr>
              <a:t>sosial</a:t>
            </a:r>
            <a:r>
              <a:rPr lang="en-GB" sz="1200" dirty="0">
                <a:solidFill>
                  <a:srgbClr val="002060"/>
                </a:solidFill>
              </a:rPr>
              <a:t> (Instagram, Facebook), website </a:t>
            </a:r>
            <a:r>
              <a:rPr lang="en-GB" sz="1200" dirty="0" err="1">
                <a:solidFill>
                  <a:srgbClr val="002060"/>
                </a:solidFill>
              </a:rPr>
              <a:t>resmi</a:t>
            </a:r>
            <a:r>
              <a:rPr lang="en-GB" sz="1200" dirty="0">
                <a:solidFill>
                  <a:srgbClr val="002060"/>
                </a:solidFill>
              </a:rPr>
              <a:t>, demo </a:t>
            </a:r>
            <a:r>
              <a:rPr lang="en-GB" sz="1200" dirty="0" err="1">
                <a:solidFill>
                  <a:srgbClr val="002060"/>
                </a:solidFill>
              </a:rPr>
              <a:t>langsung</a:t>
            </a:r>
            <a:r>
              <a:rPr lang="en-GB" sz="1200" dirty="0">
                <a:solidFill>
                  <a:srgbClr val="002060"/>
                </a:solidFill>
              </a:rPr>
              <a:t> di </a:t>
            </a:r>
            <a:r>
              <a:rPr lang="en-GB" sz="1200" dirty="0" err="1">
                <a:solidFill>
                  <a:srgbClr val="002060"/>
                </a:solidFill>
              </a:rPr>
              <a:t>desa-desa</a:t>
            </a:r>
            <a:r>
              <a:rPr lang="en-GB" sz="1200" dirty="0">
                <a:solidFill>
                  <a:srgbClr val="002060"/>
                </a:solidFill>
              </a:rPr>
              <a:t>, dan distributor </a:t>
            </a:r>
            <a:r>
              <a:rPr lang="en-GB" sz="1200" dirty="0" err="1">
                <a:solidFill>
                  <a:srgbClr val="002060"/>
                </a:solidFill>
              </a:rPr>
              <a:t>lokal</a:t>
            </a:r>
            <a:r>
              <a:rPr lang="en-GB" sz="1200" dirty="0">
                <a:solidFill>
                  <a:srgbClr val="002060"/>
                </a:solidFill>
              </a:rPr>
              <a:t> di </a:t>
            </a:r>
            <a:r>
              <a:rPr lang="en-GB" sz="1200" dirty="0" err="1">
                <a:solidFill>
                  <a:srgbClr val="002060"/>
                </a:solidFill>
              </a:rPr>
              <a:t>daerah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pedesaan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48" name="Text Placeholder 8"/>
          <p:cNvSpPr txBox="1">
            <a:spLocks/>
          </p:cNvSpPr>
          <p:nvPr/>
        </p:nvSpPr>
        <p:spPr>
          <a:xfrm>
            <a:off x="332931" y="5080286"/>
            <a:ext cx="5669280" cy="1463040"/>
          </a:xfrm>
          <a:prstGeom prst="rect">
            <a:avLst/>
          </a:prstGeom>
          <a:noFill/>
        </p:spPr>
        <p:txBody>
          <a:bodyPr vert="horz"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2060"/>
                </a:solidFill>
              </a:rPr>
              <a:t>Sensor IoT: Rp7.500.000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lima unit.</a:t>
            </a:r>
            <a:endParaRPr lang="id-ID" sz="1200" dirty="0">
              <a:solidFill>
                <a:srgbClr val="002060"/>
              </a:solidFill>
            </a:endParaRPr>
          </a:p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2060"/>
                </a:solidFill>
              </a:rPr>
              <a:t>Software dan </a:t>
            </a:r>
            <a:r>
              <a:rPr lang="en-GB" sz="1200" dirty="0" err="1">
                <a:solidFill>
                  <a:srgbClr val="002060"/>
                </a:solidFill>
              </a:rPr>
              <a:t>instalasi</a:t>
            </a:r>
            <a:r>
              <a:rPr lang="en-GB" sz="1200" dirty="0">
                <a:solidFill>
                  <a:srgbClr val="002060"/>
                </a:solidFill>
              </a:rPr>
              <a:t>: Rp15.000.000, </a:t>
            </a:r>
            <a:r>
              <a:rPr lang="en-GB" sz="1200" dirty="0" err="1">
                <a:solidFill>
                  <a:srgbClr val="002060"/>
                </a:solidFill>
              </a:rPr>
              <a:t>termasuk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pengaturan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awal</a:t>
            </a:r>
            <a:r>
              <a:rPr lang="en-GB" sz="1200" dirty="0">
                <a:solidFill>
                  <a:srgbClr val="002060"/>
                </a:solidFill>
              </a:rPr>
              <a:t> dan </a:t>
            </a:r>
            <a:r>
              <a:rPr lang="en-GB" sz="1200" dirty="0" err="1">
                <a:solidFill>
                  <a:srgbClr val="002060"/>
                </a:solidFill>
              </a:rPr>
              <a:t>integrasi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  <a:endParaRPr lang="id-ID" sz="1200" dirty="0">
              <a:solidFill>
                <a:srgbClr val="002060"/>
              </a:solidFill>
            </a:endParaRPr>
          </a:p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rgbClr val="002060"/>
                </a:solidFill>
              </a:rPr>
              <a:t>Pelatihan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petani</a:t>
            </a:r>
            <a:r>
              <a:rPr lang="en-GB" sz="1200" dirty="0">
                <a:solidFill>
                  <a:srgbClr val="002060"/>
                </a:solidFill>
              </a:rPr>
              <a:t>: Rp5.000.000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satu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sesi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kelompok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  <a:endParaRPr lang="id-ID" sz="1200" dirty="0">
              <a:solidFill>
                <a:srgbClr val="002060"/>
              </a:solidFill>
            </a:endParaRPr>
          </a:p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rgbClr val="002060"/>
                </a:solidFill>
              </a:rPr>
              <a:t>Peralatan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pendukung</a:t>
            </a:r>
            <a:r>
              <a:rPr lang="en-GB" sz="1200" dirty="0">
                <a:solidFill>
                  <a:srgbClr val="002060"/>
                </a:solidFill>
              </a:rPr>
              <a:t>: Rp10.000.000 (</a:t>
            </a:r>
            <a:r>
              <a:rPr lang="en-GB" sz="1200" dirty="0" err="1">
                <a:solidFill>
                  <a:srgbClr val="002060"/>
                </a:solidFill>
              </a:rPr>
              <a:t>termasuk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sistem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irigasi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otomatis</a:t>
            </a:r>
            <a:r>
              <a:rPr lang="en-GB" sz="1200" dirty="0">
                <a:solidFill>
                  <a:srgbClr val="002060"/>
                </a:solidFill>
              </a:rPr>
              <a:t> dan panel </a:t>
            </a:r>
            <a:r>
              <a:rPr lang="en-GB" sz="1200" dirty="0" err="1">
                <a:solidFill>
                  <a:srgbClr val="002060"/>
                </a:solidFill>
              </a:rPr>
              <a:t>surya</a:t>
            </a:r>
            <a:r>
              <a:rPr lang="en-GB" sz="1200" dirty="0">
                <a:solidFill>
                  <a:srgbClr val="002060"/>
                </a:solidFill>
              </a:rPr>
              <a:t>).Total </a:t>
            </a:r>
            <a:r>
              <a:rPr lang="en-GB" sz="1200" dirty="0" err="1">
                <a:solidFill>
                  <a:srgbClr val="002060"/>
                </a:solidFill>
              </a:rPr>
              <a:t>biaya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awal</a:t>
            </a:r>
            <a:r>
              <a:rPr lang="en-GB" sz="1200" dirty="0">
                <a:solidFill>
                  <a:srgbClr val="002060"/>
                </a:solidFill>
              </a:rPr>
              <a:t>: Rp37.500.000.Biaya </a:t>
            </a:r>
            <a:r>
              <a:rPr lang="en-GB" sz="1200" dirty="0" err="1">
                <a:solidFill>
                  <a:srgbClr val="002060"/>
                </a:solidFill>
              </a:rPr>
              <a:t>operasional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selama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enam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bulan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meliputi</a:t>
            </a:r>
            <a:r>
              <a:rPr lang="en-GB" sz="1200" dirty="0">
                <a:solidFill>
                  <a:srgbClr val="002060"/>
                </a:solidFill>
              </a:rPr>
              <a:t>:</a:t>
            </a:r>
            <a:endParaRPr lang="id-ID" sz="1200" dirty="0">
              <a:solidFill>
                <a:srgbClr val="002060"/>
              </a:solidFill>
            </a:endParaRPr>
          </a:p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rgbClr val="002060"/>
                </a:solidFill>
              </a:rPr>
              <a:t>Pemeliharaan</a:t>
            </a:r>
            <a:r>
              <a:rPr lang="en-GB" sz="1200" dirty="0">
                <a:solidFill>
                  <a:srgbClr val="002060"/>
                </a:solidFill>
              </a:rPr>
              <a:t> dan </a:t>
            </a:r>
            <a:r>
              <a:rPr lang="en-GB" sz="1200" dirty="0" err="1">
                <a:solidFill>
                  <a:srgbClr val="002060"/>
                </a:solidFill>
              </a:rPr>
              <a:t>penyusutan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sistem</a:t>
            </a:r>
            <a:r>
              <a:rPr lang="en-GB" sz="1200" dirty="0">
                <a:solidFill>
                  <a:srgbClr val="002060"/>
                </a:solidFill>
              </a:rPr>
              <a:t>: Rp12.000.000.</a:t>
            </a:r>
            <a:endParaRPr lang="id-ID" sz="1200" dirty="0">
              <a:solidFill>
                <a:srgbClr val="002060"/>
              </a:solidFill>
            </a:endParaRPr>
          </a:p>
          <a:p>
            <a:pPr marL="171450" indent="-1714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sz="1200" dirty="0" err="1">
                <a:solidFill>
                  <a:srgbClr val="002060"/>
                </a:solidFill>
              </a:rPr>
              <a:t>Biaya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bahan</a:t>
            </a:r>
            <a:r>
              <a:rPr lang="en-GB" sz="1200" dirty="0">
                <a:solidFill>
                  <a:srgbClr val="002060"/>
                </a:solidFill>
              </a:rPr>
              <a:t> (</a:t>
            </a:r>
            <a:r>
              <a:rPr lang="en-GB" sz="1200" dirty="0" err="1">
                <a:solidFill>
                  <a:srgbClr val="002060"/>
                </a:solidFill>
              </a:rPr>
              <a:t>bibit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pupuk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obat-obatan</a:t>
            </a:r>
            <a:r>
              <a:rPr lang="en-GB" sz="1200" dirty="0">
                <a:solidFill>
                  <a:srgbClr val="002060"/>
                </a:solidFill>
              </a:rPr>
              <a:t>): Rp7.500.000.</a:t>
            </a:r>
            <a:endParaRPr lang="id-ID" sz="1200" dirty="0">
              <a:solidFill>
                <a:srgbClr val="002060"/>
              </a:solidFill>
            </a:endParaRPr>
          </a:p>
        </p:txBody>
      </p:sp>
      <p:sp>
        <p:nvSpPr>
          <p:cNvPr id="49" name="Text Placeholder 8"/>
          <p:cNvSpPr txBox="1">
            <a:spLocks/>
          </p:cNvSpPr>
          <p:nvPr/>
        </p:nvSpPr>
        <p:spPr>
          <a:xfrm>
            <a:off x="6189789" y="5025885"/>
            <a:ext cx="5669280" cy="1463040"/>
          </a:xfrm>
          <a:prstGeom prst="rect">
            <a:avLst/>
          </a:prstGeom>
          <a:noFill/>
        </p:spPr>
        <p:txBody>
          <a:bodyPr vert="horz" lIns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GB" sz="1200" dirty="0" err="1">
                <a:solidFill>
                  <a:srgbClr val="002060"/>
                </a:solidFill>
              </a:rPr>
              <a:t>Langganan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bulanan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paket</a:t>
            </a:r>
            <a:r>
              <a:rPr lang="en-GB" sz="1200" dirty="0">
                <a:solidFill>
                  <a:srgbClr val="002060"/>
                </a:solidFill>
              </a:rPr>
              <a:t> IoT </a:t>
            </a:r>
            <a:r>
              <a:rPr lang="en-GB" sz="1200" dirty="0" err="1">
                <a:solidFill>
                  <a:srgbClr val="002060"/>
                </a:solidFill>
              </a:rPr>
              <a:t>mulai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dari</a:t>
            </a:r>
            <a:r>
              <a:rPr lang="en-GB" sz="1200" dirty="0">
                <a:solidFill>
                  <a:srgbClr val="002060"/>
                </a:solidFill>
              </a:rPr>
              <a:t> Rp100.000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petani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kecil</a:t>
            </a:r>
            <a:r>
              <a:rPr lang="en-GB" sz="1200" dirty="0">
                <a:solidFill>
                  <a:srgbClr val="002060"/>
                </a:solidFill>
              </a:rPr>
              <a:t> dan Rp500.000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perusahaan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agribisnis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besar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  <a:endParaRPr lang="id-ID" sz="1200" dirty="0">
              <a:solidFill>
                <a:srgbClr val="002060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GB" sz="1200" dirty="0" err="1">
                <a:solidFill>
                  <a:srgbClr val="002060"/>
                </a:solidFill>
              </a:rPr>
              <a:t>Penjualan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perangkat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tambahan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seperti</a:t>
            </a:r>
            <a:r>
              <a:rPr lang="en-GB" sz="1200" dirty="0">
                <a:solidFill>
                  <a:srgbClr val="002060"/>
                </a:solidFill>
              </a:rPr>
              <a:t> sensor </a:t>
            </a:r>
            <a:r>
              <a:rPr lang="en-GB" sz="1200" dirty="0" err="1">
                <a:solidFill>
                  <a:srgbClr val="002060"/>
                </a:solidFill>
              </a:rPr>
              <a:t>tambahan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atau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modul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otomatisasi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dengan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harga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mulai</a:t>
            </a:r>
            <a:r>
              <a:rPr lang="en-GB" sz="1200" dirty="0">
                <a:solidFill>
                  <a:srgbClr val="002060"/>
                </a:solidFill>
              </a:rPr>
              <a:t> Rp1.000.000 per unit.</a:t>
            </a:r>
            <a:endParaRPr lang="id-ID" sz="1200" dirty="0">
              <a:solidFill>
                <a:srgbClr val="002060"/>
              </a:solidFill>
            </a:endParaRPr>
          </a:p>
          <a:p>
            <a:pPr marL="22860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GB" sz="1200" dirty="0" err="1">
                <a:solidFill>
                  <a:srgbClr val="002060"/>
                </a:solidFill>
              </a:rPr>
              <a:t>Layanan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pelatihan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individu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atau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kelompok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dengan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tarif</a:t>
            </a:r>
            <a:r>
              <a:rPr lang="en-GB" sz="1200" dirty="0">
                <a:solidFill>
                  <a:srgbClr val="002060"/>
                </a:solidFill>
              </a:rPr>
              <a:t> Rp1.000.000 </a:t>
            </a:r>
            <a:r>
              <a:rPr lang="en-GB" sz="1200" dirty="0" err="1">
                <a:solidFill>
                  <a:srgbClr val="002060"/>
                </a:solidFill>
              </a:rPr>
              <a:t>hingga</a:t>
            </a:r>
            <a:r>
              <a:rPr lang="en-GB" sz="1200" dirty="0">
                <a:solidFill>
                  <a:srgbClr val="002060"/>
                </a:solidFill>
              </a:rPr>
              <a:t> Rp5.000.000 per </a:t>
            </a:r>
            <a:r>
              <a:rPr lang="en-GB" sz="1200" dirty="0" err="1">
                <a:solidFill>
                  <a:srgbClr val="002060"/>
                </a:solidFill>
              </a:rPr>
              <a:t>sesi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  <a:r>
              <a:rPr lang="id-ID" sz="1200" dirty="0">
                <a:solidFill>
                  <a:srgbClr val="002060"/>
                </a:solidFill>
              </a:rPr>
              <a:t> </a:t>
            </a:r>
          </a:p>
          <a:p>
            <a:pPr marL="22860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GB" sz="1200" dirty="0" err="1">
                <a:solidFill>
                  <a:srgbClr val="002060"/>
                </a:solidFill>
              </a:rPr>
              <a:t>Kerja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sama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dengan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pemerintah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atau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lembaga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agribisnis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adopsi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teknologi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berskala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besar</a:t>
            </a:r>
            <a:r>
              <a:rPr lang="en-GB" sz="1200" dirty="0">
                <a:solidFill>
                  <a:srgbClr val="002060"/>
                </a:solidFill>
              </a:rPr>
              <a:t>, yang </a:t>
            </a:r>
            <a:r>
              <a:rPr lang="en-GB" sz="1200" dirty="0" err="1">
                <a:solidFill>
                  <a:srgbClr val="002060"/>
                </a:solidFill>
              </a:rPr>
              <a:t>memberikan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pendapatan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kontrak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tetap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50" name="Text Placeholder 8"/>
          <p:cNvSpPr txBox="1">
            <a:spLocks/>
          </p:cNvSpPr>
          <p:nvPr/>
        </p:nvSpPr>
        <p:spPr>
          <a:xfrm>
            <a:off x="2679192" y="109728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>
                <a:solidFill>
                  <a:srgbClr val="002060"/>
                </a:solidFill>
              </a:rPr>
              <a:t>Penerapan teknologi IoT untuk memantau tanaman secara real-time, otomatisasi dalam irigasi dan pemupukan, serta pengelolaan sumber daya berbasis data untuk meningkatkan efisiensi dan hasil panen.</a:t>
            </a:r>
            <a:endParaRPr lang="en-GB" sz="1200" dirty="0">
              <a:solidFill>
                <a:srgbClr val="002060"/>
              </a:solidFill>
            </a:endParaRPr>
          </a:p>
        </p:txBody>
      </p:sp>
      <p:sp>
        <p:nvSpPr>
          <p:cNvPr id="51" name="Text Placeholder 8"/>
          <p:cNvSpPr txBox="1">
            <a:spLocks/>
          </p:cNvSpPr>
          <p:nvPr/>
        </p:nvSpPr>
        <p:spPr>
          <a:xfrm>
            <a:off x="3840480" y="320040"/>
            <a:ext cx="2651760" cy="2743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lIns="91440" tIns="45720" rIns="91440" bIns="45720" rtlCol="0" anchor="ctr" anchorCtr="0"/>
          <a:lstStyle>
            <a:defPPr>
              <a:defRPr lang="en-US"/>
            </a:defPPr>
            <a:lvl1pPr marL="0" indent="0" algn="ctr" defTabSz="914400" rtl="0" eaLnBrk="1" latinLnBrk="0" hangingPunct="1">
              <a:buNone/>
              <a:defRPr sz="10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id-ID" dirty="0">
                <a:solidFill>
                  <a:schemeClr val="tx1"/>
                </a:solidFill>
              </a:rPr>
              <a:t>Teguh Tegar Aulia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2" name="Text Placeholder 8"/>
          <p:cNvSpPr txBox="1">
            <a:spLocks/>
          </p:cNvSpPr>
          <p:nvPr/>
        </p:nvSpPr>
        <p:spPr>
          <a:xfrm>
            <a:off x="6858000" y="320040"/>
            <a:ext cx="5093208" cy="27432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50000"/>
              </a:schemeClr>
            </a:solidFill>
            <a:prstDash val="sysDot"/>
          </a:ln>
        </p:spPr>
        <p:txBody>
          <a:bodyPr vert="horz"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 dirty="0"/>
              <a:t>Smart Farming</a:t>
            </a:r>
            <a:endParaRPr lang="en-GB" dirty="0"/>
          </a:p>
        </p:txBody>
      </p:sp>
      <p:sp>
        <p:nvSpPr>
          <p:cNvPr id="53" name="Text Placeholder 8"/>
          <p:cNvSpPr txBox="1">
            <a:spLocks/>
          </p:cNvSpPr>
          <p:nvPr/>
        </p:nvSpPr>
        <p:spPr>
          <a:xfrm>
            <a:off x="338328" y="310896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 err="1">
                <a:solidFill>
                  <a:srgbClr val="002060"/>
                </a:solidFill>
              </a:rPr>
              <a:t>Metode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pertanian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tradisional</a:t>
            </a:r>
            <a:r>
              <a:rPr lang="en-GB" sz="1200" dirty="0">
                <a:solidFill>
                  <a:srgbClr val="002060"/>
                </a:solidFill>
              </a:rPr>
              <a:t> yang </a:t>
            </a:r>
            <a:r>
              <a:rPr lang="en-GB" sz="1200" dirty="0" err="1">
                <a:solidFill>
                  <a:srgbClr val="002060"/>
                </a:solidFill>
              </a:rPr>
              <a:t>kurang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efisien</a:t>
            </a:r>
            <a:r>
              <a:rPr lang="en-GB" sz="1200" dirty="0">
                <a:solidFill>
                  <a:srgbClr val="002060"/>
                </a:solidFill>
              </a:rPr>
              <a:t> dan </a:t>
            </a:r>
            <a:r>
              <a:rPr lang="en-GB" sz="1200" dirty="0" err="1">
                <a:solidFill>
                  <a:srgbClr val="002060"/>
                </a:solidFill>
              </a:rPr>
              <a:t>mengandalkan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prediksi</a:t>
            </a:r>
            <a:r>
              <a:rPr lang="en-GB" sz="1200" dirty="0">
                <a:solidFill>
                  <a:srgbClr val="002060"/>
                </a:solidFill>
              </a:rPr>
              <a:t> manual </a:t>
            </a:r>
            <a:r>
              <a:rPr lang="en-GB" sz="1200" dirty="0" err="1">
                <a:solidFill>
                  <a:srgbClr val="002060"/>
                </a:solidFill>
              </a:rPr>
              <a:t>tanpa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dukungan</a:t>
            </a:r>
            <a:r>
              <a:rPr lang="en-GB" sz="1200" dirty="0">
                <a:solidFill>
                  <a:srgbClr val="002060"/>
                </a:solidFill>
              </a:rPr>
              <a:t> data real-time.</a:t>
            </a:r>
          </a:p>
        </p:txBody>
      </p:sp>
      <p:sp>
        <p:nvSpPr>
          <p:cNvPr id="54" name="Text Placeholder 8"/>
          <p:cNvSpPr txBox="1">
            <a:spLocks/>
          </p:cNvSpPr>
          <p:nvPr/>
        </p:nvSpPr>
        <p:spPr>
          <a:xfrm>
            <a:off x="5020056" y="310388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>
                <a:solidFill>
                  <a:srgbClr val="002060"/>
                </a:solidFill>
              </a:rPr>
              <a:t>"</a:t>
            </a:r>
            <a:r>
              <a:rPr lang="en-GB" sz="1200" dirty="0" err="1">
                <a:solidFill>
                  <a:srgbClr val="002060"/>
                </a:solidFill>
              </a:rPr>
              <a:t>Teknologi</a:t>
            </a:r>
            <a:r>
              <a:rPr lang="en-GB" sz="1200" dirty="0">
                <a:solidFill>
                  <a:srgbClr val="002060"/>
                </a:solidFill>
              </a:rPr>
              <a:t> IoT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semua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petani</a:t>
            </a:r>
            <a:r>
              <a:rPr lang="en-GB" sz="1200" dirty="0">
                <a:solidFill>
                  <a:srgbClr val="002060"/>
                </a:solidFill>
              </a:rPr>
              <a:t>" – </a:t>
            </a:r>
            <a:r>
              <a:rPr lang="en-GB" sz="1200" dirty="0" err="1">
                <a:solidFill>
                  <a:srgbClr val="002060"/>
                </a:solidFill>
              </a:rPr>
              <a:t>sebuah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solusi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berbasis</a:t>
            </a:r>
            <a:r>
              <a:rPr lang="en-GB" sz="1200" dirty="0">
                <a:solidFill>
                  <a:srgbClr val="002060"/>
                </a:solidFill>
              </a:rPr>
              <a:t> data yang </a:t>
            </a:r>
            <a:r>
              <a:rPr lang="en-GB" sz="1200" dirty="0" err="1">
                <a:solidFill>
                  <a:srgbClr val="002060"/>
                </a:solidFill>
              </a:rPr>
              <a:t>mudah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diakses</a:t>
            </a:r>
            <a:r>
              <a:rPr lang="en-GB" sz="1200" dirty="0">
                <a:solidFill>
                  <a:srgbClr val="002060"/>
                </a:solidFill>
              </a:rPr>
              <a:t> dan </a:t>
            </a:r>
            <a:r>
              <a:rPr lang="en-GB" sz="1200" dirty="0" err="1">
                <a:solidFill>
                  <a:srgbClr val="002060"/>
                </a:solidFill>
              </a:rPr>
              <a:t>digunakan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untuk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meningkatkan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hasil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pertanian</a:t>
            </a:r>
            <a:r>
              <a:rPr lang="en-GB" sz="12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55" name="Text Placeholder 8"/>
          <p:cNvSpPr txBox="1">
            <a:spLocks/>
          </p:cNvSpPr>
          <p:nvPr/>
        </p:nvSpPr>
        <p:spPr>
          <a:xfrm>
            <a:off x="9701784" y="3114040"/>
            <a:ext cx="2167128" cy="1645920"/>
          </a:xfrm>
          <a:prstGeom prst="rect">
            <a:avLst/>
          </a:prstGeom>
          <a:noFill/>
        </p:spPr>
        <p:txBody>
          <a:bodyPr vert="horz" lIns="0" anchor="t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1100" kern="1200" baseline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 err="1">
                <a:solidFill>
                  <a:srgbClr val="002060"/>
                </a:solidFill>
              </a:rPr>
              <a:t>Petani</a:t>
            </a:r>
            <a:r>
              <a:rPr lang="en-GB" sz="1200" dirty="0">
                <a:solidFill>
                  <a:srgbClr val="002060"/>
                </a:solidFill>
              </a:rPr>
              <a:t> yang </a:t>
            </a:r>
            <a:r>
              <a:rPr lang="en-GB" sz="1200" dirty="0" err="1">
                <a:solidFill>
                  <a:srgbClr val="002060"/>
                </a:solidFill>
              </a:rPr>
              <a:t>terbuka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terhadap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teknologi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baru</a:t>
            </a:r>
            <a:r>
              <a:rPr lang="en-GB" sz="1200" dirty="0">
                <a:solidFill>
                  <a:srgbClr val="002060"/>
                </a:solidFill>
              </a:rPr>
              <a:t>, </a:t>
            </a:r>
            <a:r>
              <a:rPr lang="en-GB" sz="1200" dirty="0" err="1">
                <a:solidFill>
                  <a:srgbClr val="002060"/>
                </a:solidFill>
              </a:rPr>
              <a:t>perusahaan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agribisnis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besar</a:t>
            </a:r>
            <a:r>
              <a:rPr lang="en-GB" sz="1200" dirty="0">
                <a:solidFill>
                  <a:srgbClr val="002060"/>
                </a:solidFill>
              </a:rPr>
              <a:t>, dan universitas </a:t>
            </a:r>
            <a:r>
              <a:rPr lang="en-GB" sz="1200" dirty="0" err="1">
                <a:solidFill>
                  <a:srgbClr val="002060"/>
                </a:solidFill>
              </a:rPr>
              <a:t>atau</a:t>
            </a:r>
            <a:r>
              <a:rPr lang="en-GB" sz="1200" dirty="0">
                <a:solidFill>
                  <a:srgbClr val="002060"/>
                </a:solidFill>
              </a:rPr>
              <a:t> SMK yang </a:t>
            </a:r>
            <a:r>
              <a:rPr lang="en-GB" sz="1200" dirty="0" err="1">
                <a:solidFill>
                  <a:srgbClr val="002060"/>
                </a:solidFill>
              </a:rPr>
              <a:t>fokus</a:t>
            </a:r>
            <a:r>
              <a:rPr lang="en-GB" sz="1200" dirty="0">
                <a:solidFill>
                  <a:srgbClr val="002060"/>
                </a:solidFill>
              </a:rPr>
              <a:t> pada </a:t>
            </a:r>
            <a:r>
              <a:rPr lang="en-GB" sz="1200" dirty="0" err="1">
                <a:solidFill>
                  <a:srgbClr val="002060"/>
                </a:solidFill>
              </a:rPr>
              <a:t>pembelajaran</a:t>
            </a:r>
            <a:r>
              <a:rPr lang="en-GB" sz="1200" dirty="0">
                <a:solidFill>
                  <a:srgbClr val="002060"/>
                </a:solidFill>
              </a:rPr>
              <a:t> </a:t>
            </a:r>
            <a:r>
              <a:rPr lang="en-GB" sz="1200" dirty="0" err="1">
                <a:solidFill>
                  <a:srgbClr val="002060"/>
                </a:solidFill>
              </a:rPr>
              <a:t>agribisnis</a:t>
            </a:r>
            <a:r>
              <a:rPr lang="en-GB" sz="1200" dirty="0">
                <a:solidFill>
                  <a:srgbClr val="002060"/>
                </a:solidFill>
              </a:rPr>
              <a:t> modern.</a:t>
            </a:r>
          </a:p>
        </p:txBody>
      </p:sp>
    </p:spTree>
    <p:extLst>
      <p:ext uri="{BB962C8B-B14F-4D97-AF65-F5344CB8AC3E}">
        <p14:creationId xmlns:p14="http://schemas.microsoft.com/office/powerpoint/2010/main" val="182762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405</Words>
  <Application>Microsoft Office PowerPoint</Application>
  <PresentationFormat>Widescreen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Andi Hidayat Muhmin</dc:creator>
  <cp:lastModifiedBy>laptop hp hp</cp:lastModifiedBy>
  <cp:revision>4</cp:revision>
  <dcterms:created xsi:type="dcterms:W3CDTF">2025-01-13T04:20:03Z</dcterms:created>
  <dcterms:modified xsi:type="dcterms:W3CDTF">2025-01-19T05:49:39Z</dcterms:modified>
</cp:coreProperties>
</file>